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embedTrueType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4" r:id="rId15"/>
    <p:sldId id="265" r:id="rId16"/>
    <p:sldId id="271" r:id="rId22"/>
    <p:sldId id="266" r:id="rId17"/>
    <p:sldId id="273" r:id="rId14"/>
    <p:sldId id="272" r:id="rId23"/>
    <p:sldId id="267" r:id="rId18"/>
    <p:sldId id="268" r:id="rId19"/>
    <p:sldId id="269" r:id="rId20"/>
    <p:sldId id="270" r:id="rId21"/>
  </p:sldIdLst>
  <p:sldSz cx="12191695" cy="6858000" type="screen4x3"/>
  <p:notesSz cx="6858000" cy="9144000"/>
  <p:embeddedFontLst>
    <p:embeddedFont>
      <p:font typeface="Pretendard" pitchFamily="34" charset="0"/>
      <p:regular r:id="rId24"/>
      <p:bold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4" Type="http://schemas.openxmlformats.org/officeDocument/2006/relationships/slide" Target="slides/slide1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10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9.xml"/><Relationship Id="rId23" Type="http://schemas.openxmlformats.org/officeDocument/2006/relationships/slide" Target="slides/slide11.xml"/><Relationship Id="rId24" Type="http://schemas.openxmlformats.org/officeDocument/2006/relationships/font" Target="fonts/font1.fntdata"/><Relationship Id="rId25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91440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E6E1F9"/>
                </a:solidFill>
                <a:latin typeface="Pretendard"/>
                <a:ea typeface="Pretendard"/>
                <a:cs typeface="Pretendard"/>
              </a:rPr>
              <a:t>서비스 소개서 · Working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14400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STMX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29000"/>
            <a:ext cx="914400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스티믹스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패션 Style ID Sharing 소셜 미디어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대상: 내부 / 초기 파트너 (IR 자료 이전 단계)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본 문서는 작업 중인 초안이며, 수치·계약·성과 지표를 포함하지 않습니다.</a:t>
            </a:r>
          </a:p>
        </p:txBody>
      </p:sp>
      <p:pic>
        <p:nvPicPr>
          <p:cNvPr id="8" name="STMX splash logo" descr="splas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777240"/>
            <a:ext cx="1705771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01 ·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STMX는 패션 Style ID Sharing 소셜 미디어입니다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6070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사용자는 설문에 참여해 16가지 Style ID 중 하나를 부여받고,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다른 사용자와 유대를 형성하며 패션을 공유합니다.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880360"/>
            <a:ext cx="10607040" cy="123444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73152" cy="1234440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1014984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9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모든 것을 공유하는 것이 아니라, 패션 성향과 Style ID를 공유해 개성과 획일성을 함께 아우르려는 서비스다.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34840"/>
            <a:ext cx="2514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572000"/>
            <a:ext cx="2148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설문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029200"/>
            <a:ext cx="214884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패션 성향을 묻는 25문항 설문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4434840"/>
            <a:ext cx="2514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4572000"/>
            <a:ext cx="2148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Style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029200"/>
            <a:ext cx="214884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4개 축 결과로 정해지는 16가지 Style 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434840"/>
            <a:ext cx="2514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572000"/>
            <a:ext cx="2148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유대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029200"/>
            <a:ext cx="214884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Style ID를 매개로 다른 사용자와 연결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4434840"/>
            <a:ext cx="251460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4572000"/>
            <a:ext cx="21488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공유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5029200"/>
            <a:ext cx="214884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LOOX 게시물로 패션을 공유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02 ·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사용자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2468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91440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2103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설문 참여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210312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텍스트 16문항 + 이미지 9문항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91840" y="3154680"/>
            <a:ext cx="228600" cy="274320"/>
          </a:xfrm>
          <a:prstGeom prst="rightArrow">
            <a:avLst/>
          </a:prstGeom>
          <a:solidFill>
            <a:srgbClr val="C3C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2468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965960"/>
            <a:ext cx="91440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788920"/>
            <a:ext cx="2103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Style ID 부여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337560"/>
            <a:ext cx="210312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4개 축 점수 → 16가지 중 하나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80760" y="3154680"/>
            <a:ext cx="228600" cy="274320"/>
          </a:xfrm>
          <a:prstGeom prst="rightArrow">
            <a:avLst/>
          </a:prstGeom>
          <a:solidFill>
            <a:srgbClr val="C3C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79" y="1828800"/>
            <a:ext cx="2468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1965960"/>
            <a:ext cx="91440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788920"/>
            <a:ext cx="2103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유대 형성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337560"/>
            <a:ext cx="210312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다른 사용자와 연결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(형성 방식은 설계 중)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69680" y="3154680"/>
            <a:ext cx="228600" cy="274320"/>
          </a:xfrm>
          <a:prstGeom prst="rightArrow">
            <a:avLst/>
          </a:prstGeom>
          <a:solidFill>
            <a:srgbClr val="C3C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3999" y="1828800"/>
            <a:ext cx="24688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599" y="1965960"/>
            <a:ext cx="91440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2788920"/>
            <a:ext cx="210312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패션 공유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3337560"/>
            <a:ext cx="210312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LOOX 게시: 사진 최대 9장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20640"/>
            <a:ext cx="1060704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공유의 단위는 ‘모든 것’이 아니라 패션 성향과 Style ID입니다.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Creator는 LOOX에 상품을 최대 3개까지 등록할 수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03 · Four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패션 성향을 나누는 4개의 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64040" y="685800"/>
            <a:ext cx="1920240" cy="292608"/>
          </a:xfrm>
          <a:prstGeom prst="roundRect">
            <a:avLst/>
          </a:prstGeom>
          <a:solidFill>
            <a:srgbClr val="F2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64040" y="685800"/>
            <a:ext cx="192024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예시 · 실제 인물 아님</a:t>
            </a:r>
          </a:p>
        </p:txBody>
      </p:sp>
      <p:sp>
        <p:nvSpPr>
          <p:cNvPr id="101" name="Image frame"/>
          <p:cNvSpPr/>
          <p:nvPr/>
        </p:nvSpPr>
        <p:spPr>
          <a:xfrm>
            <a:off x="731520" y="1325880"/>
            <a:ext cx="3091884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2" name="Four axes example screenshot" descr="예시 결과 화면: Introverted–Expressive E6 63%, Classic–Transformative C4 63%, Relaxed–Structured S6 63%, Minimal–Detailed M3 75%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3000444" cy="4754880"/>
          </a:xfrm>
          <a:prstGeom prst="rect">
            <a:avLst/>
          </a:prstGeom>
        </p:spPr>
      </p:pic>
      <p:sp>
        <p:nvSpPr>
          <p:cNvPr id="102" name="Right label"/>
          <p:cNvSpPr txBox="1"/>
          <p:nvPr/>
        </p:nvSpPr>
        <p:spPr>
          <a:xfrm>
            <a:off x="4389120" y="1371600"/>
            <a:ext cx="6995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rm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화면 읽는 법</a:t>
            </a:r>
          </a:p>
        </p:txBody>
      </p:sp>
      <p:sp>
        <p:nvSpPr>
          <p:cNvPr id="103" name="Right heading"/>
          <p:cNvSpPr txBox="1"/>
          <p:nvPr/>
        </p:nvSpPr>
        <p:spPr>
          <a:xfrm>
            <a:off x="4389120" y="1691640"/>
            <a:ext cx="699516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rm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20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4개의 축을 막대 하나씩으로 보여줍니다</a:t>
            </a:r>
          </a:p>
        </p:txBody>
      </p:sp>
      <p:sp>
        <p:nvSpPr>
          <p:cNvPr id="104" name="Right body"/>
          <p:cNvSpPr txBox="1"/>
          <p:nvPr/>
        </p:nvSpPr>
        <p:spPr>
          <a:xfrm>
            <a:off x="4389120" y="2286000"/>
            <a:ext cx="6995160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rm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ko-KR" sz="13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왼쪽은 결과 UI 화면의 예시이며, 실제 인물의 데이터가 아닙니다.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3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각 축은 두 가지 색으로 나뉜 막대로 표시되며, 축마다 코드와 퍼센트가 함께 나타납니다.</a:t>
            </a:r>
          </a:p>
        </p:txBody>
      </p:sp>
      <p:sp>
        <p:nvSpPr>
          <p:cNvPr id="105" name="Row E6"/>
          <p:cNvSpPr/>
          <p:nvPr/>
        </p:nvSpPr>
        <p:spPr>
          <a:xfrm>
            <a:off x="4389120" y="3474720"/>
            <a:ext cx="6995160" cy="50292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6" name="Chip E6"/>
          <p:cNvSpPr/>
          <p:nvPr/>
        </p:nvSpPr>
        <p:spPr>
          <a:xfrm>
            <a:off x="4572000" y="3566160"/>
            <a:ext cx="685800" cy="320040"/>
          </a:xfrm>
          <a:prstGeom prst="roundRect">
            <a:avLst/>
          </a:prstGeom>
          <a:solidFill>
            <a:srgbClr val="10131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E6</a:t>
            </a:r>
          </a:p>
        </p:txBody>
      </p:sp>
      <p:sp>
        <p:nvSpPr>
          <p:cNvPr id="107" name="Axis E6"/>
          <p:cNvSpPr txBox="1"/>
          <p:nvPr/>
        </p:nvSpPr>
        <p:spPr>
          <a:xfrm>
            <a:off x="5440680" y="3474720"/>
            <a:ext cx="3291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Introverted – Expressive</a:t>
            </a:r>
          </a:p>
        </p:txBody>
      </p:sp>
      <p:sp>
        <p:nvSpPr>
          <p:cNvPr id="108" name="Reading E6"/>
          <p:cNvSpPr txBox="1"/>
          <p:nvPr/>
        </p:nvSpPr>
        <p:spPr>
          <a:xfrm>
            <a:off x="8778240" y="3474720"/>
            <a:ext cx="2423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14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Expressive 쪽 63%</a:t>
            </a:r>
          </a:p>
        </p:txBody>
      </p:sp>
      <p:sp>
        <p:nvSpPr>
          <p:cNvPr id="109" name="Row C4"/>
          <p:cNvSpPr/>
          <p:nvPr/>
        </p:nvSpPr>
        <p:spPr>
          <a:xfrm>
            <a:off x="4389120" y="4069080"/>
            <a:ext cx="6995160" cy="50292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0" name="Chip C4"/>
          <p:cNvSpPr/>
          <p:nvPr/>
        </p:nvSpPr>
        <p:spPr>
          <a:xfrm>
            <a:off x="4572000" y="4160520"/>
            <a:ext cx="685800" cy="320040"/>
          </a:xfrm>
          <a:prstGeom prst="roundRect">
            <a:avLst/>
          </a:prstGeom>
          <a:solidFill>
            <a:srgbClr val="10131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C4</a:t>
            </a:r>
          </a:p>
        </p:txBody>
      </p:sp>
      <p:sp>
        <p:nvSpPr>
          <p:cNvPr id="111" name="Axis C4"/>
          <p:cNvSpPr txBox="1"/>
          <p:nvPr/>
        </p:nvSpPr>
        <p:spPr>
          <a:xfrm>
            <a:off x="5440680" y="4069080"/>
            <a:ext cx="3291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Classic – Transformative</a:t>
            </a:r>
          </a:p>
        </p:txBody>
      </p:sp>
      <p:sp>
        <p:nvSpPr>
          <p:cNvPr id="112" name="Reading C4"/>
          <p:cNvSpPr txBox="1"/>
          <p:nvPr/>
        </p:nvSpPr>
        <p:spPr>
          <a:xfrm>
            <a:off x="8778240" y="4069080"/>
            <a:ext cx="2423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14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Classic 쪽 63%</a:t>
            </a:r>
          </a:p>
        </p:txBody>
      </p:sp>
      <p:sp>
        <p:nvSpPr>
          <p:cNvPr id="113" name="Row S6"/>
          <p:cNvSpPr/>
          <p:nvPr/>
        </p:nvSpPr>
        <p:spPr>
          <a:xfrm>
            <a:off x="4389120" y="4663440"/>
            <a:ext cx="6995160" cy="50292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4" name="Chip S6"/>
          <p:cNvSpPr/>
          <p:nvPr/>
        </p:nvSpPr>
        <p:spPr>
          <a:xfrm>
            <a:off x="4572000" y="4754880"/>
            <a:ext cx="685800" cy="320040"/>
          </a:xfrm>
          <a:prstGeom prst="roundRect">
            <a:avLst/>
          </a:prstGeom>
          <a:solidFill>
            <a:srgbClr val="10131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S6</a:t>
            </a:r>
          </a:p>
        </p:txBody>
      </p:sp>
      <p:sp>
        <p:nvSpPr>
          <p:cNvPr id="115" name="Axis S6"/>
          <p:cNvSpPr txBox="1"/>
          <p:nvPr/>
        </p:nvSpPr>
        <p:spPr>
          <a:xfrm>
            <a:off x="5440680" y="4663440"/>
            <a:ext cx="3291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Relaxed – Structured</a:t>
            </a:r>
          </a:p>
        </p:txBody>
      </p:sp>
      <p:sp>
        <p:nvSpPr>
          <p:cNvPr id="116" name="Reading S6"/>
          <p:cNvSpPr txBox="1"/>
          <p:nvPr/>
        </p:nvSpPr>
        <p:spPr>
          <a:xfrm>
            <a:off x="8778240" y="4663440"/>
            <a:ext cx="2423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14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Structured 쪽 63%</a:t>
            </a:r>
          </a:p>
        </p:txBody>
      </p:sp>
      <p:sp>
        <p:nvSpPr>
          <p:cNvPr id="117" name="Row M3"/>
          <p:cNvSpPr/>
          <p:nvPr/>
        </p:nvSpPr>
        <p:spPr>
          <a:xfrm>
            <a:off x="4389120" y="5257800"/>
            <a:ext cx="6995160" cy="502920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8" name="Chip M3"/>
          <p:cNvSpPr/>
          <p:nvPr/>
        </p:nvSpPr>
        <p:spPr>
          <a:xfrm>
            <a:off x="4572000" y="5349240"/>
            <a:ext cx="685800" cy="320040"/>
          </a:xfrm>
          <a:prstGeom prst="roundRect">
            <a:avLst/>
          </a:prstGeom>
          <a:solidFill>
            <a:srgbClr val="101317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M3</a:t>
            </a:r>
          </a:p>
        </p:txBody>
      </p:sp>
      <p:sp>
        <p:nvSpPr>
          <p:cNvPr id="119" name="Axis M3"/>
          <p:cNvSpPr txBox="1"/>
          <p:nvPr/>
        </p:nvSpPr>
        <p:spPr>
          <a:xfrm>
            <a:off x="5440680" y="5257800"/>
            <a:ext cx="329184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ko-KR"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Minimal – Detailed</a:t>
            </a:r>
          </a:p>
        </p:txBody>
      </p:sp>
      <p:sp>
        <p:nvSpPr>
          <p:cNvPr id="120" name="Reading M3"/>
          <p:cNvSpPr txBox="1"/>
          <p:nvPr/>
        </p:nvSpPr>
        <p:spPr>
          <a:xfrm>
            <a:off x="8778240" y="5257800"/>
            <a:ext cx="2423160" cy="5029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rm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ko-KR" sz="14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Minimal 쪽 75%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04 · Style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16가지 Style ID (1/2) · Expressive (E) 그룹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코드 순서: E/I → T/C → S/R → M/D   (E Expressive · I Introverted · T Transformative · C Classic · S Structured · R Relaxed · M Minimal · D Detailed)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ETSM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783080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Design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83080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조용한 디자인은 날 자꾸 불러.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31720"/>
            <a:ext cx="10607040" cy="47548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ETSD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331720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Runway Star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31720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내가 들어서면, 조명이 나를 따라와.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8036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80360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ETRM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880360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Style Translator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80360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평범함? 나를 만나면 특별해져.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429000"/>
            <a:ext cx="10607040" cy="47548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29000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ETRD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429000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Urban Curator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29000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진정한 멋은, 편안함에서 나와.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77639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ECSM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3977639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Style Master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977639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디자인이 특별해서? 나니까 특별해 보이는 거야.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526280"/>
            <a:ext cx="10607040" cy="47548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26280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ECSD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526280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Noblesse Icon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526280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화려함은 타고나는 거야, 꾸미는 게 아니야.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07492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074920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ECRM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074920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Mood Maker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074920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내 분위기, 따라 한다고 될까?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623560"/>
            <a:ext cx="10607040" cy="47548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623560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ECRD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623560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Signature Editor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623560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예쁜 건 많아도, 내 스타일은 많지 않아.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04 · Style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16가지 Style ID (2/2) · Introverted (I) 그룹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코드 순서: E/I → T/C → S/R → M/D   (E Expressive · I Introverted · T Transformative · C Classic · S Structured · R Relaxed · M Minimal · D Detailed)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ITSM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783080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Silhouette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83080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실루엣이 곧 디자인이야.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31720"/>
            <a:ext cx="10607040" cy="47548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ITSD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331720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Style Guardian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331720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남의 시선은 중요치 않아.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8036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80360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ITRM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880360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Modern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880360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새로운 건 좋아, 과한 건 싫어.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429000"/>
            <a:ext cx="10607040" cy="47548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429000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ITRD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429000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Style Hunter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429000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나를 만족시키는 브랜드 잘 없을걸?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77639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ICSM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3977639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Classic Selector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977639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꼭 새로운 게 더 좋은 걸까?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526280"/>
            <a:ext cx="10607040" cy="47548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26280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ICSD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526280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Fine Dresser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526280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적당히는 내 스타일이 아니야.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074920"/>
            <a:ext cx="10607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074920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ICRM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074920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Comfort Finder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074920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나한텐 이게 제일 편하고 좋더라.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623560"/>
            <a:ext cx="10607040" cy="475488"/>
          </a:xfrm>
          <a:prstGeom prst="rect">
            <a:avLst/>
          </a:prstGeom>
          <a:solidFill>
            <a:srgbClr val="F0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623560"/>
            <a:ext cx="10972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ICRD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623560"/>
            <a:ext cx="301752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Detail Keeper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623560"/>
            <a:ext cx="6126480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비슷해 보여도, 내겐 전부 달라.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05 · LOOX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LOOX: STMX의 게시물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STMX에서 게시물의 이름은 LOOX입니다.</a:t>
            </a:r>
          </a:p>
        </p:txBody>
      </p:sp>
      <p:pic>
        <p:nvPicPr>
          <p:cNvPr id="25" name="LOOX photo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03120"/>
            <a:ext cx="812800" cy="1219200"/>
          </a:xfrm>
          <a:prstGeom prst="rect">
            <a:avLst/>
          </a:prstGeom>
        </p:spPr>
      </p:pic>
      <p:pic>
        <p:nvPicPr>
          <p:cNvPr id="26" name="LOOX photo 2" descr="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520" y="2103120"/>
            <a:ext cx="812800" cy="1219200"/>
          </a:xfrm>
          <a:prstGeom prst="rect">
            <a:avLst/>
          </a:prstGeom>
        </p:spPr>
      </p:pic>
      <p:pic>
        <p:nvPicPr>
          <p:cNvPr id="27" name="LOOX photo 3" descr="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5760" y="2103120"/>
            <a:ext cx="812800" cy="1219200"/>
          </a:xfrm>
          <a:prstGeom prst="rect">
            <a:avLst/>
          </a:prstGeom>
        </p:spPr>
      </p:pic>
      <p:pic>
        <p:nvPicPr>
          <p:cNvPr id="28" name="LOOX photo 4" descr="08.png"/>
          <p:cNvPicPr>
            <a:picLocks noChangeAspect="1"/>
          </p:cNvPicPr>
          <p:nvPr/>
        </p:nvPicPr>
        <p:blipFill>
          <a:blip r:embed="rId5"/>
          <a:srcRect t="52" b="208"/>
          <a:stretch>
            <a:fillRect/>
          </a:stretch>
        </p:blipFill>
        <p:spPr>
          <a:xfrm>
            <a:off x="1097280" y="3413760"/>
            <a:ext cx="812800" cy="1219200"/>
          </a:xfrm>
          <a:prstGeom prst="rect">
            <a:avLst/>
          </a:prstGeom>
        </p:spPr>
      </p:pic>
      <p:pic>
        <p:nvPicPr>
          <p:cNvPr id="29" name="LOOX photo 5" descr="10.png"/>
          <p:cNvPicPr>
            <a:picLocks noChangeAspect="1"/>
          </p:cNvPicPr>
          <p:nvPr/>
        </p:nvPicPr>
        <p:blipFill>
          <a:blip r:embed="rId6"/>
          <a:srcRect l="3863" r="3863"/>
          <a:stretch>
            <a:fillRect/>
          </a:stretch>
        </p:blipFill>
        <p:spPr>
          <a:xfrm>
            <a:off x="2001520" y="3413760"/>
            <a:ext cx="812800" cy="1219200"/>
          </a:xfrm>
          <a:prstGeom prst="rect">
            <a:avLst/>
          </a:prstGeom>
        </p:spPr>
      </p:pic>
      <p:pic>
        <p:nvPicPr>
          <p:cNvPr id="30" name="LOOX photo 6" descr="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5760" y="3413760"/>
            <a:ext cx="812800" cy="1219200"/>
          </a:xfrm>
          <a:prstGeom prst="rect">
            <a:avLst/>
          </a:prstGeom>
        </p:spPr>
      </p:pic>
      <p:pic>
        <p:nvPicPr>
          <p:cNvPr id="31" name="LOOX photo 7" descr="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4724400"/>
            <a:ext cx="812800" cy="1219200"/>
          </a:xfrm>
          <a:prstGeom prst="rect">
            <a:avLst/>
          </a:prstGeom>
        </p:spPr>
      </p:pic>
      <p:pic>
        <p:nvPicPr>
          <p:cNvPr id="32" name="LOOX photo 8" descr="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1520" y="4724400"/>
            <a:ext cx="812800" cy="1219200"/>
          </a:xfrm>
          <a:prstGeom prst="rect">
            <a:avLst/>
          </a:prstGeom>
        </p:spPr>
      </p:pic>
      <p:pic>
        <p:nvPicPr>
          <p:cNvPr id="33" name="LOOX photo 9" descr="2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5760" y="4724400"/>
            <a:ext cx="812800" cy="1219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5989320"/>
            <a:ext cx="2621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사진 최대 9장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286000"/>
            <a:ext cx="66294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423160"/>
            <a:ext cx="62636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사진: LOOX당 최대 9장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880360"/>
            <a:ext cx="62636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한 개의 LOOX에 최대 9장의 사진을 담을 수 있습니다.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3794760"/>
            <a:ext cx="66294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3931920"/>
            <a:ext cx="626364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상품: Creator는 LOOX당 최대 3개 등록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389120"/>
            <a:ext cx="62636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25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Creator는 하나의 LOOX에 상품을 최대 3개까지 등록할 수 있습니다.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303520"/>
            <a:ext cx="662940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LOOX는 Style ID Sharing이 실제로 일어나는 단위입니다.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06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Style ID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51206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7548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공유하는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4754879" cy="2331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패션 성향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Style ID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LOOX로 보여주는 패션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120640" cy="3017520"/>
          </a:xfrm>
          <a:prstGeom prst="rect">
            <a:avLst/>
          </a:prstGeom>
          <a:solidFill>
            <a:srgbClr val="F8F9FA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00200"/>
            <a:ext cx="47548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공유하지 않는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4754879" cy="2331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‘모든 것’을 공유하는 일반 소셜 미디어 방식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5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패션 성향과 무관한 정보 전반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54880"/>
            <a:ext cx="1060704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같은 Style ID라는 공통점(획일성)과 각자의 LOOX가 보여주는 차이(개성)를 함께 담습니다.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Style ID는 사용자 간 유대, Creator 탐색, Brand 타깃팅의 공통 기준이 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06 · Style ID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Style ID 추출 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7" name="Image frame"/>
          <p:cNvSpPr/>
          <p:nvPr/>
        </p:nvSpPr>
        <p:spPr>
          <a:xfrm>
            <a:off x="731520" y="1417320"/>
            <a:ext cx="5120640" cy="4141386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Style ID extraction screenshot" descr="STMX STUDIO Style ID 화면: 업로드 이미지, 관찰 프롬프트, 추출 결과(ICSD Fine Dresser), 부위 크롭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3040"/>
            <a:ext cx="5029200" cy="4049946"/>
          </a:xfrm>
          <a:prstGeom prst="rect">
            <a:avLst/>
          </a:prstGeom>
        </p:spPr>
      </p:pic>
      <p:sp>
        <p:nvSpPr>
          <p:cNvPr id="9" name="Image caption"/>
          <p:cNvSpPr txBox="1"/>
          <p:nvPr/>
        </p:nvSpPr>
        <p:spPr>
          <a:xfrm>
            <a:off x="777240" y="560442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E6774"/>
                </a:solidFill>
                <a:latin typeface="Pretendard"/>
              </a:rPr>
              <a:t>STMX STUDIO · Style ID (style-ex) 화면</a:t>
            </a:r>
          </a:p>
        </p:txBody>
      </p:sp>
      <p:sp>
        <p:nvSpPr>
          <p:cNvPr id="10" name="Right body"/>
          <p:cNvSpPr/>
          <p:nvPr/>
        </p:nvSpPr>
        <p:spPr>
          <a:xfrm>
            <a:off x="6172200" y="1417320"/>
            <a:ext cx="5212080" cy="4141386"/>
          </a:xfrm>
          <a:prstGeom prst="rect">
            <a:avLst/>
          </a:prstGeom>
          <a:solidFill>
            <a:srgbClr val="F8F9FA"/>
          </a:solidFill>
          <a:ln w="9525">
            <a:solidFill>
              <a:srgbClr val="E0E3E8"/>
            </a:solidFill>
          </a:ln>
        </p:spPr>
        <p:txBody>
          <a:bodyPr rtlCol="0" anchor="ctr" wrap="square" lIns="320040" rIns="320040" tIns="274320" bIns="274320"/>
          <a:lstStyle/>
          <a:p>
            <a:pPr algn="l">
              <a:lnSpc>
                <a:spcPct val="130000"/>
              </a:lnSpc>
              <a:spcAft>
                <a:spcPts val="1400"/>
              </a:spcAft>
              <a:buNone/>
            </a:pPr>
            <a:r>
              <a:rPr sz="2100" b="1" lang="ko-KR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신규 Style ID Vision Extraction (style-ex):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9747FF"/>
              </a:buClr>
              <a:buFont typeface="Pretendard"/>
              <a:buChar char="•"/>
            </a:pPr>
            <a:r>
              <a:rPr sz="16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1-Call Vision 관찰:</a:t>
            </a:r>
            <a:r>
              <a:rPr sz="1600" b="0" lang="ko-KR">
                <a:solidFill>
                  <a:srgbClr val="2D3440"/>
                </a:solidFill>
                <a:latin typeface="Pretendard"/>
                <a:ea typeface="Pretendard"/>
                <a:cs typeface="Pretendard"/>
              </a:rPr>
              <a:t> 단일 이미지 업로드 시 의복별 37개 파라미터 + DM 디테일 + 색상 + 연출 유형을 동시 추출.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9747FF"/>
              </a:buClr>
              <a:buFont typeface="Pretendard"/>
              <a:buChar char="•"/>
            </a:pPr>
            <a:r>
              <a:rPr sz="16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4축 스코어링 엔진:</a:t>
            </a:r>
            <a:r>
              <a:rPr sz="1600" b="0" lang="ko-KR">
                <a:solidFill>
                  <a:srgbClr val="2D3440"/>
                </a:solidFill>
                <a:latin typeface="Pretendard"/>
                <a:ea typeface="Pretendard"/>
                <a:cs typeface="Pretendard"/>
              </a:rPr>
              <a:t> STMX Item Scoring Engine이 서버 프로세스 내에서 4자리 스타일 아이디 조합.</a:t>
            </a:r>
          </a:p>
          <a:p>
            <a:pPr algn="l" marL="256032" indent="-256032">
              <a:lnSpc>
                <a:spcPct val="130000"/>
              </a:lnSpc>
              <a:spcAft>
                <a:spcPts val="0"/>
              </a:spcAft>
              <a:buClr>
                <a:srgbClr val="9747FF"/>
              </a:buClr>
              <a:buFont typeface="Pretendard"/>
              <a:buChar char="•"/>
            </a:pPr>
            <a:r>
              <a:rPr sz="16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Sharp 부위 크롭 (/api/style-ex/crops):</a:t>
            </a:r>
            <a:r>
              <a:rPr sz="1600" b="0" lang="ko-KR">
                <a:solidFill>
                  <a:srgbClr val="2D3440"/>
                </a:solidFill>
                <a:latin typeface="Pretendard"/>
                <a:ea typeface="Pretendard"/>
                <a:cs typeface="Pretendard"/>
              </a:rPr>
              <a:t> Bounding Box 기반으로 256×256 정규화 부위 크롭 이미지 생성.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07 ·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비즈니스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685800"/>
            <a:ext cx="2240280" cy="292608"/>
          </a:xfrm>
          <a:prstGeom prst="roundRect">
            <a:avLst/>
          </a:prstGeom>
          <a:solidFill>
            <a:srgbClr val="F2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685800"/>
            <a:ext cx="2240280" cy="2926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방향성 · 아직 완전 출시 전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47548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① ShopMy와 유사한 Creator 커머스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4754879" cy="3337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Creator는 이미 Style ID를 가지고 있습니다.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따라서 Brand는 Style ID 기준으로 더 정밀한 판매, 광고, 캠페인을 운영할 수 있습니다.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LOOX당 상품 최대 3개 등록 구조와 연결됩니다.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※ ShopMy와의 파트너십은 없습니다. 모델 유형만 참고합니다.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4754879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② A2A 기반 MCP 서비스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57400"/>
            <a:ext cx="4754879" cy="3337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A2A는 이미 준비되어 있습니다.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사용자가 “오늘 뭐 입지”라고 물으면, 해당 사용자의 Style ID에 맞는 Creator와 Brand 상품을 소개합니다.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이를 통해 매우 정밀한 타깃 마케팅과 프로모션이 가능합니다.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가격 정책 등 비즈니스 조건은 아직 확정되지 않았습니다.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09 · MCP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오늘 뭐 입지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7" name="Bubble user"/>
          <p:cNvSpPr/>
          <p:nvPr/>
        </p:nvSpPr>
        <p:spPr>
          <a:xfrm>
            <a:off x="1005840" y="1417320"/>
            <a:ext cx="2194560" cy="777240"/>
          </a:xfrm>
          <a:prstGeom prst="wedgeRoundRectCallout">
            <a:avLst>
              <a:gd name="adj1" fmla="val -5000"/>
              <a:gd name="adj2" fmla="val 95000"/>
              <a:gd name="adj3" fmla="val 16667"/>
            </a:avLst>
          </a:prstGeom>
          <a:solidFill>
            <a:srgbClr val="FFFFFF"/>
          </a:solidFill>
          <a:ln w="12700">
            <a:solidFill>
              <a:srgbClr val="E0E3E8"/>
            </a:solidFill>
          </a:ln>
        </p:spPr>
        <p:txBody>
          <a:bodyPr rtlCol="0" anchor="ctr" wrap="square" lIns="36576" rIns="36576" tIns="36576" bIns="36576"/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“오늘 뭐 입지?”</a:t>
            </a:r>
          </a:p>
        </p:txBody>
      </p:sp>
      <p:sp>
        <p:nvSpPr>
          <p:cNvPr id="8" name="User backdrop"/>
          <p:cNvSpPr/>
          <p:nvPr/>
        </p:nvSpPr>
        <p:spPr>
          <a:xfrm>
            <a:off x="1188719" y="2697480"/>
            <a:ext cx="1828800" cy="1828800"/>
          </a:xfrm>
          <a:prstGeom prst="ellipse">
            <a:avLst/>
          </a:prstGeom>
          <a:solidFill>
            <a:srgbClr val="F0F1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User head"/>
          <p:cNvSpPr/>
          <p:nvPr/>
        </p:nvSpPr>
        <p:spPr>
          <a:xfrm>
            <a:off x="1801367" y="2926080"/>
            <a:ext cx="603504" cy="603504"/>
          </a:xfrm>
          <a:prstGeom prst="ellipse">
            <a:avLst/>
          </a:prstGeom>
          <a:solidFill>
            <a:srgbClr val="101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User body"/>
          <p:cNvSpPr/>
          <p:nvPr/>
        </p:nvSpPr>
        <p:spPr>
          <a:xfrm>
            <a:off x="1536191" y="3611880"/>
            <a:ext cx="1133856" cy="8686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0131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617720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사용자</a:t>
            </a:r>
          </a:p>
        </p:txBody>
      </p:sp>
      <p:sp>
        <p:nvSpPr>
          <p:cNvPr id="12" name="Bubble agent"/>
          <p:cNvSpPr/>
          <p:nvPr/>
        </p:nvSpPr>
        <p:spPr>
          <a:xfrm>
            <a:off x="3566160" y="1417320"/>
            <a:ext cx="2377440" cy="777240"/>
          </a:xfrm>
          <a:prstGeom prst="wedgeRoundRectCallout">
            <a:avLst>
              <a:gd name="adj1" fmla="val -5000"/>
              <a:gd name="adj2" fmla="val 95000"/>
              <a:gd name="adj3" fmla="val 16667"/>
            </a:avLst>
          </a:prstGeom>
          <a:solidFill>
            <a:srgbClr val="F8F9FA"/>
          </a:solidFill>
          <a:ln w="12700">
            <a:solidFill>
              <a:srgbClr val="E0E3E8"/>
            </a:solidFill>
          </a:ln>
        </p:spPr>
        <p:txBody>
          <a:bodyPr rtlCol="0" anchor="ctr" wrap="square" lIns="54864" rIns="54864" tIns="54864" bIns="54864"/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“스티믹스에 ECSM으로</a:t>
            </a:r>
          </a:p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검색해 보겠습니다.”</a:t>
            </a:r>
          </a:p>
        </p:txBody>
      </p:sp>
      <p:sp>
        <p:nvSpPr>
          <p:cNvPr id="13" name="Agent backdrop"/>
          <p:cNvSpPr/>
          <p:nvPr/>
        </p:nvSpPr>
        <p:spPr>
          <a:xfrm>
            <a:off x="3840480" y="2697480"/>
            <a:ext cx="1828800" cy="1828800"/>
          </a:xfrm>
          <a:prstGeom prst="ellipse">
            <a:avLst/>
          </a:prstGeom>
          <a:solidFill>
            <a:srgbClr val="F0F1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gent antenna"/>
          <p:cNvSpPr/>
          <p:nvPr/>
        </p:nvSpPr>
        <p:spPr>
          <a:xfrm>
            <a:off x="4741164" y="2999232"/>
            <a:ext cx="27432" cy="182880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Agent antenna tip"/>
          <p:cNvSpPr/>
          <p:nvPr/>
        </p:nvSpPr>
        <p:spPr>
          <a:xfrm>
            <a:off x="4690872" y="2926080"/>
            <a:ext cx="128016" cy="128016"/>
          </a:xfrm>
          <a:prstGeom prst="ellipse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gent head"/>
          <p:cNvSpPr/>
          <p:nvPr/>
        </p:nvSpPr>
        <p:spPr>
          <a:xfrm>
            <a:off x="4187952" y="3163824"/>
            <a:ext cx="1133856" cy="1097280"/>
          </a:xfrm>
          <a:prstGeom prst="roundRect">
            <a:avLst>
              <a:gd name="adj" fmla="val 22000"/>
            </a:avLst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gent eye L"/>
          <p:cNvSpPr/>
          <p:nvPr/>
        </p:nvSpPr>
        <p:spPr>
          <a:xfrm>
            <a:off x="4425696" y="3383280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gent eye R"/>
          <p:cNvSpPr/>
          <p:nvPr/>
        </p:nvSpPr>
        <p:spPr>
          <a:xfrm>
            <a:off x="4882896" y="3383280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3703320"/>
            <a:ext cx="1097280" cy="365760"/>
          </a:xfrm>
          <a:prstGeom prst="rect">
            <a:avLst/>
          </a:prstGeom>
          <a:noFill/>
        </p:spPr>
        <p:txBody>
          <a:bodyPr wrap="square" lIns="36576" rIns="36576" tIns="36576" bIns="36576" anchor="ctr"/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617720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AI AGENT</a:t>
            </a:r>
          </a:p>
        </p:txBody>
      </p:sp>
      <p:sp>
        <p:nvSpPr>
          <p:cNvPr id="21" name="Flow arrow 1"/>
          <p:cNvSpPr/>
          <p:nvPr/>
        </p:nvSpPr>
        <p:spPr>
          <a:xfrm>
            <a:off x="3108960" y="3474720"/>
            <a:ext cx="228600" cy="274320"/>
          </a:xfrm>
          <a:prstGeom prst="rightArrow">
            <a:avLst/>
          </a:prstGeom>
          <a:solidFill>
            <a:srgbClr val="C3C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low arrow 2"/>
          <p:cNvSpPr/>
          <p:nvPr/>
        </p:nvSpPr>
        <p:spPr>
          <a:xfrm>
            <a:off x="5833872" y="3474720"/>
            <a:ext cx="228600" cy="274320"/>
          </a:xfrm>
          <a:prstGeom prst="rightArrow">
            <a:avLst/>
          </a:prstGeom>
          <a:solidFill>
            <a:srgbClr val="C3C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5303520" cy="36576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A2A는 이미 준비되어 있습니다.</a:t>
            </a:r>
          </a:p>
        </p:txBody>
      </p:sp>
      <p:sp>
        <p:nvSpPr>
          <p:cNvPr id="24" name="Screen frame"/>
          <p:cNvSpPr/>
          <p:nvPr/>
        </p:nvSpPr>
        <p:spPr>
          <a:xfrm>
            <a:off x="6217920" y="1298448"/>
            <a:ext cx="5166359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10131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creen header"/>
          <p:cNvSpPr/>
          <p:nvPr/>
        </p:nvSpPr>
        <p:spPr>
          <a:xfrm>
            <a:off x="6245352" y="1325880"/>
            <a:ext cx="5111496" cy="603504"/>
          </a:xfrm>
          <a:prstGeom prst="round2SameRect">
            <a:avLst>
              <a:gd name="adj1" fmla="val 25000"/>
              <a:gd name="adj2" fmla="val 0"/>
            </a:avLst>
          </a:prstGeom>
          <a:solidFill>
            <a:srgbClr val="F0F1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1371600"/>
            <a:ext cx="3666743" cy="320040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STMX · ECSM Style Master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1655064"/>
            <a:ext cx="4398263" cy="256032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디자인이 특별해서? 나니까 특별해 보이는 거야.</a:t>
            </a:r>
          </a:p>
        </p:txBody>
      </p:sp>
      <p:sp>
        <p:nvSpPr>
          <p:cNvPr id="28" name="Badge example"/>
          <p:cNvSpPr/>
          <p:nvPr/>
        </p:nvSpPr>
        <p:spPr>
          <a:xfrm>
            <a:off x="10332719" y="1435607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F2F2FF"/>
          </a:solidFill>
          <a:ln w="9525">
            <a:solidFill>
              <a:srgbClr val="E6E1F9"/>
            </a:solidFill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</a:pPr>
            <a:r>
              <a:rPr sz="8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화면 예시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011680"/>
            <a:ext cx="4764023" cy="256032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ECSM 크리에이터 LOOX</a:t>
            </a:r>
          </a:p>
        </p:txBody>
      </p:sp>
      <p:pic>
        <p:nvPicPr>
          <p:cNvPr id="30" name="Creator LOOX 01" descr="Creator LOOX 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286000"/>
            <a:ext cx="1122425" cy="1280160"/>
          </a:xfrm>
          <a:prstGeom prst="rect">
            <a:avLst/>
          </a:prstGeom>
          <a:ln w="6350">
            <a:solidFill>
              <a:srgbClr val="E0E3E8"/>
            </a:solidFill>
          </a:ln>
        </p:spPr>
      </p:pic>
      <p:pic>
        <p:nvPicPr>
          <p:cNvPr id="31" name="Creator LOOX 06" descr="Creator LOOX 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954" y="2286000"/>
            <a:ext cx="1122425" cy="1280160"/>
          </a:xfrm>
          <a:prstGeom prst="rect">
            <a:avLst/>
          </a:prstGeom>
          <a:ln w="6350">
            <a:solidFill>
              <a:srgbClr val="E0E3E8"/>
            </a:solidFill>
          </a:ln>
        </p:spPr>
      </p:pic>
      <p:pic>
        <p:nvPicPr>
          <p:cNvPr id="32" name="Creator LOOX 14" descr="Creator LOOX 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819" y="2286000"/>
            <a:ext cx="1122425" cy="1280160"/>
          </a:xfrm>
          <a:prstGeom prst="rect">
            <a:avLst/>
          </a:prstGeom>
          <a:ln w="6350">
            <a:solidFill>
              <a:srgbClr val="E0E3E8"/>
            </a:solidFill>
          </a:ln>
        </p:spPr>
      </p:pic>
      <p:pic>
        <p:nvPicPr>
          <p:cNvPr id="33" name="Creator LOOX 22" descr="Creator LOOX 2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0686" y="2286000"/>
            <a:ext cx="1122425" cy="1280160"/>
          </a:xfrm>
          <a:prstGeom prst="rect">
            <a:avLst/>
          </a:prstGeom>
          <a:ln w="6350">
            <a:solidFill>
              <a:srgbClr val="E0E3E8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6419088" y="3657600"/>
            <a:ext cx="4764023" cy="256032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브랜드</a:t>
            </a:r>
          </a:p>
        </p:txBody>
      </p:sp>
      <p:sp>
        <p:nvSpPr>
          <p:cNvPr id="35" name="Chip Brand A"/>
          <p:cNvSpPr/>
          <p:nvPr/>
        </p:nvSpPr>
        <p:spPr>
          <a:xfrm>
            <a:off x="6419088" y="3931920"/>
            <a:ext cx="1527047" cy="310896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9525">
            <a:solidFill>
              <a:srgbClr val="E0E3E8"/>
            </a:solidFill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Brand A</a:t>
            </a:r>
          </a:p>
        </p:txBody>
      </p:sp>
      <p:sp>
        <p:nvSpPr>
          <p:cNvPr id="36" name="Chip Brand B"/>
          <p:cNvSpPr/>
          <p:nvPr/>
        </p:nvSpPr>
        <p:spPr>
          <a:xfrm>
            <a:off x="8037575" y="3931920"/>
            <a:ext cx="1527047" cy="310896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9525">
            <a:solidFill>
              <a:srgbClr val="E0E3E8"/>
            </a:solidFill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Brand B</a:t>
            </a:r>
          </a:p>
        </p:txBody>
      </p:sp>
      <p:sp>
        <p:nvSpPr>
          <p:cNvPr id="37" name="Chip Brand C"/>
          <p:cNvSpPr/>
          <p:nvPr/>
        </p:nvSpPr>
        <p:spPr>
          <a:xfrm>
            <a:off x="9656063" y="3931920"/>
            <a:ext cx="1527047" cy="310896"/>
          </a:xfrm>
          <a:prstGeom prst="roundRect">
            <a:avLst>
              <a:gd name="adj" fmla="val 50000"/>
            </a:avLst>
          </a:prstGeom>
          <a:solidFill>
            <a:srgbClr val="F8F9FA"/>
          </a:solidFill>
          <a:ln w="9525">
            <a:solidFill>
              <a:srgbClr val="E0E3E8"/>
            </a:solidFill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Brand 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4334256"/>
            <a:ext cx="4764023" cy="256032"/>
          </a:xfrm>
          <a:prstGeom prst="rect">
            <a:avLst/>
          </a:prstGeom>
          <a:noFill/>
        </p:spPr>
        <p:txBody>
          <a:bodyPr wrap="square" lIns="36576" rIns="36576" tIns="36576" bIns="36576" anchor="t"/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내 LOOX · 조회수 순</a:t>
            </a:r>
          </a:p>
        </p:txBody>
      </p:sp>
      <p:pic>
        <p:nvPicPr>
          <p:cNvPr id="39" name="My LOOX 04" descr="My LOOX 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608576"/>
            <a:ext cx="1122425" cy="1307591"/>
          </a:xfrm>
          <a:prstGeom prst="rect">
            <a:avLst/>
          </a:prstGeom>
          <a:ln w="6350">
            <a:solidFill>
              <a:srgbClr val="E0E3E8"/>
            </a:solidFill>
          </a:ln>
        </p:spPr>
      </p:pic>
      <p:sp>
        <p:nvSpPr>
          <p:cNvPr id="40" name="Views badge 04"/>
          <p:cNvSpPr/>
          <p:nvPr/>
        </p:nvSpPr>
        <p:spPr>
          <a:xfrm>
            <a:off x="6473951" y="5660136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101317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조회수 ···</a:t>
            </a:r>
          </a:p>
        </p:txBody>
      </p:sp>
      <p:pic>
        <p:nvPicPr>
          <p:cNvPr id="41" name="My LOOX 10" descr="My LOOX 1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2954" y="4608576"/>
            <a:ext cx="1122425" cy="1307591"/>
          </a:xfrm>
          <a:prstGeom prst="rect">
            <a:avLst/>
          </a:prstGeom>
          <a:ln w="6350">
            <a:solidFill>
              <a:srgbClr val="E0E3E8"/>
            </a:solidFill>
          </a:ln>
        </p:spPr>
      </p:pic>
      <p:sp>
        <p:nvSpPr>
          <p:cNvPr id="42" name="Views badge 10"/>
          <p:cNvSpPr/>
          <p:nvPr/>
        </p:nvSpPr>
        <p:spPr>
          <a:xfrm>
            <a:off x="7687818" y="5660136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101317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조회수 ···</a:t>
            </a:r>
          </a:p>
        </p:txBody>
      </p:sp>
      <p:pic>
        <p:nvPicPr>
          <p:cNvPr id="43" name="My LOOX 16" descr="My LOOX 1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6819" y="4608576"/>
            <a:ext cx="1122425" cy="1307591"/>
          </a:xfrm>
          <a:prstGeom prst="rect">
            <a:avLst/>
          </a:prstGeom>
          <a:ln w="6350">
            <a:solidFill>
              <a:srgbClr val="E0E3E8"/>
            </a:solidFill>
          </a:ln>
        </p:spPr>
      </p:pic>
      <p:sp>
        <p:nvSpPr>
          <p:cNvPr id="44" name="Views badge 16"/>
          <p:cNvSpPr/>
          <p:nvPr/>
        </p:nvSpPr>
        <p:spPr>
          <a:xfrm>
            <a:off x="8901684" y="5660136"/>
            <a:ext cx="777240" cy="201168"/>
          </a:xfrm>
          <a:prstGeom prst="roundRect">
            <a:avLst>
              <a:gd name="adj" fmla="val 50000"/>
            </a:avLst>
          </a:prstGeom>
          <a:solidFill>
            <a:srgbClr val="101317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조회수 ···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10 ·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User · Creator · Brand의 역할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33832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3017520" cy="3520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설문 참여 → Style ID 부여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다른 사용자와 유대 형성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LOOX로 패션 공유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“오늘 뭐 입지” 질문 시 Style ID 기반 추천 수신 (방향)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Creator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3017520" cy="3520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자신의 Style ID를 가진 공유자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LOOX에 상품 최대 3개 등록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Brand의 Style ID 타깃 판매·광고·캠페인 대상 (방향)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463040"/>
            <a:ext cx="33832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600200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Brand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57400"/>
            <a:ext cx="3017520" cy="352043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Style ID 기준 타깃 판매·광고·캠페인 (방향)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Admin web의 catalog 및 Naver commerce 기능 사용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MCP/A2A 추천을 통한 상품 노출 (방향)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Creator 전용 Admin 화면은 아키텍처 다이어그램에 별도로 표기되어 있지 않습니다.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11 · STMX Web &amp; Mobile Phase 2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Consumer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76072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97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Docker Compose production server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1371600"/>
            <a:ext cx="4983480" cy="4892040"/>
          </a:xfrm>
          <a:prstGeom prst="rect">
            <a:avLst/>
          </a:prstGeom>
          <a:solidFill>
            <a:srgbClr val="FFFFFF"/>
          </a:solidFill>
          <a:ln w="9525">
            <a:solidFill>
              <a:srgbClr val="974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417320"/>
            <a:ext cx="45720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Supabase 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783080"/>
            <a:ext cx="2651760" cy="1143000"/>
          </a:xfrm>
          <a:prstGeom prst="rect">
            <a:avLst/>
          </a:prstGeom>
          <a:solidFill>
            <a:srgbClr val="F8F9FA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837943"/>
            <a:ext cx="243230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40"/>
            <a:ext cx="2432304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Expo SDK 57 · ai.stmx.app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React Native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Expo EAS Build · APK/AAB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063240"/>
            <a:ext cx="26517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118104"/>
            <a:ext cx="243230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Nginx ingress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429000"/>
            <a:ext cx="2432304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SSL 443 · Certbot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proxy_pass → 8910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1783080"/>
            <a:ext cx="26060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1608" y="1837943"/>
            <a:ext cx="238658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Web client &amp;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8" y="2148840"/>
            <a:ext cx="2386584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Next.js · Node 20 standalone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port 8910 · Docker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desktop / invites / SEO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306324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1608" y="3118104"/>
            <a:ext cx="238658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Next API gateway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1608" y="3429000"/>
            <a:ext cx="2386584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Routes: Style · LOOX · Admin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Bearer auth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25196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4306824"/>
            <a:ext cx="517550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Shared package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617720"/>
            <a:ext cx="5175504" cy="45719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@stmx/core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257800"/>
            <a:ext cx="5394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5312664"/>
            <a:ext cx="517550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OAuth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5623560"/>
            <a:ext cx="5175504" cy="457199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Naver · Kakao · Google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1783080"/>
            <a:ext cx="2240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6288" y="1837943"/>
            <a:ext cx="202082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Supabase 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2148840"/>
            <a:ext cx="2020824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JWT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MagicLink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PKCE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1783080"/>
            <a:ext cx="2240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53728" y="1837943"/>
            <a:ext cx="202082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Naver 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2148840"/>
            <a:ext cx="2020824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Edge function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Supabase Deno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3063240"/>
            <a:ext cx="46177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76288" y="3118104"/>
            <a:ext cx="439826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PostgreSQL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3429000"/>
            <a:ext cx="4398264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Tables: Profiles · LOOX · Survey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RLS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4251960"/>
            <a:ext cx="46177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76288" y="4306824"/>
            <a:ext cx="439826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288" y="4617720"/>
            <a:ext cx="4398264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style cards bucket · media bucket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486400"/>
            <a:ext cx="46177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다이어그램 원본 라벨만 사용해 재구성했습니다.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12 · VTON Platform Architecture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Admin web 아키텍처 (VTON)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10607040" cy="1417320"/>
          </a:xfrm>
          <a:prstGeom prst="rect">
            <a:avLst/>
          </a:prstGeom>
          <a:solidFill>
            <a:srgbClr val="F8F9FA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1038758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Next.js app · port 8920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83080"/>
            <a:ext cx="10387584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/>
        </p:txBody>
      </p:sp>
      <p:sp>
        <p:nvSpPr>
          <p:cNvPr id="10" name="Rectangle 9"/>
          <p:cNvSpPr/>
          <p:nvPr/>
        </p:nvSpPr>
        <p:spPr>
          <a:xfrm>
            <a:off x="914400" y="182880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874519"/>
            <a:ext cx="1828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VTON Studio / Try-on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267712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/ · /tryon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82880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1874519"/>
            <a:ext cx="1828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Portrait Studio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82880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1874519"/>
            <a:ext cx="1828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Video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267712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/mov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59" y="182880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6912" y="1874519"/>
            <a:ext cx="1828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API Playground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82880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0032" y="1874519"/>
            <a:ext cx="18288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Commerce Console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2267712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catalog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017520"/>
            <a:ext cx="3383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072384"/>
            <a:ext cx="316382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Supabase 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383279"/>
            <a:ext cx="3163824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SSR cookies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Bearer JWT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017520"/>
            <a:ext cx="3383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3072384"/>
            <a:ext cx="316382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Product crop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3383279"/>
            <a:ext cx="3163824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FastAPI · port 8930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CDP Chrome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017520"/>
            <a:ext cx="3383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7" y="3072384"/>
            <a:ext cx="316382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VTON render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7" y="3383279"/>
            <a:ext cx="3163824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Sequential layer pipeline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→ FASHN AI (api.fashn.ai)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43400"/>
            <a:ext cx="3383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4398264"/>
            <a:ext cx="316382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Postgres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709160"/>
            <a:ext cx="3163824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vton_* tables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brand_catalog_* tables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4343400"/>
            <a:ext cx="3383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8848" y="4398264"/>
            <a:ext cx="316382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848" y="4709160"/>
            <a:ext cx="3163824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vton-assets bucket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vton-results bucket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4343400"/>
            <a:ext cx="33832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10727" y="4398264"/>
            <a:ext cx="316382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Naver Commerce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0727" y="4709160"/>
            <a:ext cx="3163824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상품 검색 · catalog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669280"/>
            <a:ext cx="106070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Admin web에는 Creator와 Brand 기능이 포함됩니다. 다이어그램에 그려진 Brand 기능은 catalog와 Naver commerce입니다.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Creator 기능은 다이어그램에 별도 박스로 표기되어 있지 않아 화면명을 기재하지 않았습니다.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13 · Still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아직 열려 있는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3383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사용자 간 유대 형성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3017520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유대를 어떤 방식으로 맺는지는 아직 결정되지 않았습니다.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383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비즈니스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3017520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가격 정책 등 비즈니스 조건은 아직 확정되지 않았습니다.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Creator 커머스와 MCP/A2A 서비스는 방향성 단계입니다.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463040"/>
            <a:ext cx="3383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600200"/>
            <a:ext cx="30175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성과 지표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57400"/>
            <a:ext cx="3017520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아직 성과 수치가 없습니다.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본 문서는 지표·매출·사용자 수를 포함하지 않습니다.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106070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위 항목은 IR 자료 작성 전 확정이 필요합니다.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08 · Shortcut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21792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내 스타일까지의 지름길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STMX 서비스 소개서 · Working draft · Internal / Early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00" b="0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43584"/>
            <a:ext cx="10607040" cy="384048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20000"/>
              </a:lnSpc>
            </a:pPr>
            <a:r>
              <a:rPr sz="1600" b="0" lang="ko-KR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Style ID로 연결된 크리에이터 LOOX가 내 스타일 상품으로 바로 안내합니다.</a:t>
            </a:r>
          </a:p>
        </p:txBody>
      </p:sp>
      <p:sp>
        <p:nvSpPr>
          <p:cNvPr id="8" name="Card 기존 방식"/>
          <p:cNvSpPr/>
          <p:nvPr/>
        </p:nvSpPr>
        <p:spPr>
          <a:xfrm>
            <a:off x="777240" y="1810512"/>
            <a:ext cx="27889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56816"/>
            <a:ext cx="242316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기존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12848"/>
            <a:ext cx="2423160" cy="329184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포털 / 쇼핑사이트 검색</a:t>
            </a:r>
          </a:p>
        </p:txBody>
      </p:sp>
      <p:sp>
        <p:nvSpPr>
          <p:cNvPr id="11" name="Step dot 기존 방식 1"/>
          <p:cNvSpPr/>
          <p:nvPr/>
        </p:nvSpPr>
        <p:spPr>
          <a:xfrm>
            <a:off x="978408" y="2715768"/>
            <a:ext cx="310896" cy="310896"/>
          </a:xfrm>
          <a:prstGeom prst="ellipse">
            <a:avLst/>
          </a:prstGeom>
          <a:solidFill>
            <a:srgbClr val="F0F1F3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100" b="1" lang="ko-KR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Step connector"/>
          <p:cNvSpPr/>
          <p:nvPr/>
        </p:nvSpPr>
        <p:spPr>
          <a:xfrm>
            <a:off x="1129284" y="3044951"/>
            <a:ext cx="10972" cy="164591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9032" y="2679191"/>
            <a:ext cx="2011679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10000"/>
              </a:lnSpc>
            </a:pPr>
            <a:r>
              <a:rPr sz="13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키워드 검색</a:t>
            </a:r>
          </a:p>
        </p:txBody>
      </p:sp>
      <p:sp>
        <p:nvSpPr>
          <p:cNvPr id="14" name="Step dot 기존 방식 2"/>
          <p:cNvSpPr/>
          <p:nvPr/>
        </p:nvSpPr>
        <p:spPr>
          <a:xfrm>
            <a:off x="978408" y="3246120"/>
            <a:ext cx="310896" cy="310896"/>
          </a:xfrm>
          <a:prstGeom prst="ellipse">
            <a:avLst/>
          </a:prstGeom>
          <a:solidFill>
            <a:srgbClr val="F0F1F3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100" b="1" lang="ko-KR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Step connector"/>
          <p:cNvSpPr/>
          <p:nvPr/>
        </p:nvSpPr>
        <p:spPr>
          <a:xfrm>
            <a:off x="1129284" y="3575303"/>
            <a:ext cx="10972" cy="164591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99032" y="3209544"/>
            <a:ext cx="2011679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10000"/>
              </a:lnSpc>
            </a:pPr>
            <a:r>
              <a:rPr sz="13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결과 탐색 · 필터</a:t>
            </a:r>
          </a:p>
        </p:txBody>
      </p:sp>
      <p:sp>
        <p:nvSpPr>
          <p:cNvPr id="17" name="Step dot 기존 방식 3"/>
          <p:cNvSpPr/>
          <p:nvPr/>
        </p:nvSpPr>
        <p:spPr>
          <a:xfrm>
            <a:off x="978408" y="3776472"/>
            <a:ext cx="310896" cy="310896"/>
          </a:xfrm>
          <a:prstGeom prst="ellipse">
            <a:avLst/>
          </a:prstGeom>
          <a:solidFill>
            <a:srgbClr val="F0F1F3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100" b="1" lang="ko-KR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8" name="Step connector"/>
          <p:cNvSpPr/>
          <p:nvPr/>
        </p:nvSpPr>
        <p:spPr>
          <a:xfrm>
            <a:off x="1129284" y="4105656"/>
            <a:ext cx="10972" cy="164591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9032" y="3739896"/>
            <a:ext cx="2011679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10000"/>
              </a:lnSpc>
            </a:pPr>
            <a:r>
              <a:rPr sz="13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여러 사이트 비교</a:t>
            </a:r>
          </a:p>
        </p:txBody>
      </p:sp>
      <p:sp>
        <p:nvSpPr>
          <p:cNvPr id="20" name="Step dot 기존 방식 4"/>
          <p:cNvSpPr/>
          <p:nvPr/>
        </p:nvSpPr>
        <p:spPr>
          <a:xfrm>
            <a:off x="978408" y="4306824"/>
            <a:ext cx="310896" cy="310896"/>
          </a:xfrm>
          <a:prstGeom prst="ellipse">
            <a:avLst/>
          </a:prstGeom>
          <a:solidFill>
            <a:srgbClr val="F0F1F3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100" b="1" lang="ko-KR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4270248"/>
            <a:ext cx="2011679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10000"/>
              </a:lnSpc>
            </a:pPr>
            <a:r>
              <a:rPr sz="13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내 스타일인지 스스로 판단</a:t>
            </a:r>
          </a:p>
          <a:p>
            <a:pPr algn="l">
              <a:lnSpc>
                <a:spcPct val="110000"/>
              </a:lnSpc>
            </a:pPr>
            <a:r>
              <a:rPr sz="1100" b="0" lang="ko-KR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시행착오 반복</a:t>
            </a:r>
          </a:p>
        </p:txBody>
      </p:sp>
      <p:sp>
        <p:nvSpPr>
          <p:cNvPr id="22" name="Time tag 기존 방식"/>
          <p:cNvSpPr/>
          <p:nvPr/>
        </p:nvSpPr>
        <p:spPr>
          <a:xfrm>
            <a:off x="960120" y="5038344"/>
            <a:ext cx="2423160" cy="292608"/>
          </a:xfrm>
          <a:prstGeom prst="roundRect">
            <a:avLst>
              <a:gd name="adj" fmla="val 50000"/>
            </a:avLst>
          </a:prstGeom>
          <a:solidFill>
            <a:srgbClr val="F0F1F3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100" b="1" lang="ko-KR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1회 탐색 약 60분 (가정)</a:t>
            </a:r>
          </a:p>
        </p:txBody>
      </p:sp>
      <p:sp>
        <p:nvSpPr>
          <p:cNvPr id="23" name="Compare arrow"/>
          <p:cNvSpPr/>
          <p:nvPr/>
        </p:nvSpPr>
        <p:spPr>
          <a:xfrm>
            <a:off x="3611880" y="3520440"/>
            <a:ext cx="182880" cy="237744"/>
          </a:xfrm>
          <a:prstGeom prst="rightArrow">
            <a:avLst/>
          </a:prstGeom>
          <a:solidFill>
            <a:srgbClr val="C3C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ard STMX"/>
          <p:cNvSpPr/>
          <p:nvPr/>
        </p:nvSpPr>
        <p:spPr>
          <a:xfrm>
            <a:off x="3840480" y="1810512"/>
            <a:ext cx="283464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974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ard accent bar"/>
          <p:cNvSpPr/>
          <p:nvPr/>
        </p:nvSpPr>
        <p:spPr>
          <a:xfrm>
            <a:off x="3840480" y="1810512"/>
            <a:ext cx="2834640" cy="64008"/>
          </a:xfrm>
          <a:prstGeom prst="rect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1956816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STMX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2212848"/>
            <a:ext cx="2468880" cy="329184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Style ID 기반</a:t>
            </a:r>
          </a:p>
        </p:txBody>
      </p:sp>
      <p:sp>
        <p:nvSpPr>
          <p:cNvPr id="28" name="Step dot STMX 1"/>
          <p:cNvSpPr/>
          <p:nvPr/>
        </p:nvSpPr>
        <p:spPr>
          <a:xfrm>
            <a:off x="4041648" y="2715768"/>
            <a:ext cx="310896" cy="310896"/>
          </a:xfrm>
          <a:prstGeom prst="ellipse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Step connector"/>
          <p:cNvSpPr/>
          <p:nvPr/>
        </p:nvSpPr>
        <p:spPr>
          <a:xfrm>
            <a:off x="4192524" y="3044951"/>
            <a:ext cx="10972" cy="36576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2679191"/>
            <a:ext cx="2057400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10000"/>
              </a:lnSpc>
            </a:pPr>
            <a:r>
              <a:rPr sz="13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내 Style ID</a:t>
            </a:r>
          </a:p>
        </p:txBody>
      </p:sp>
      <p:sp>
        <p:nvSpPr>
          <p:cNvPr id="31" name="Step dot STMX 2"/>
          <p:cNvSpPr/>
          <p:nvPr/>
        </p:nvSpPr>
        <p:spPr>
          <a:xfrm>
            <a:off x="4041648" y="3447287"/>
            <a:ext cx="310896" cy="310896"/>
          </a:xfrm>
          <a:prstGeom prst="ellipse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2" name="Step connector"/>
          <p:cNvSpPr/>
          <p:nvPr/>
        </p:nvSpPr>
        <p:spPr>
          <a:xfrm>
            <a:off x="4192524" y="3776472"/>
            <a:ext cx="10972" cy="365760"/>
          </a:xfrm>
          <a:prstGeom prst="rect">
            <a:avLst/>
          </a:prstGeom>
          <a:solidFill>
            <a:srgbClr val="E0E3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3410711"/>
            <a:ext cx="2057400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10000"/>
              </a:lnSpc>
            </a:pPr>
            <a:r>
              <a:rPr sz="13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같은 Style ID 크리에이터 LOOX</a:t>
            </a:r>
          </a:p>
        </p:txBody>
      </p:sp>
      <p:sp>
        <p:nvSpPr>
          <p:cNvPr id="34" name="Step dot STMX 3"/>
          <p:cNvSpPr/>
          <p:nvPr/>
        </p:nvSpPr>
        <p:spPr>
          <a:xfrm>
            <a:off x="4041648" y="4178807"/>
            <a:ext cx="310896" cy="310896"/>
          </a:xfrm>
          <a:prstGeom prst="ellipse">
            <a:avLst/>
          </a:prstGeom>
          <a:gradFill rotWithShape="1">
            <a:gsLst>
              <a:gs pos="0">
                <a:srgbClr val="9747FF"/>
              </a:gs>
              <a:gs pos="100000">
                <a:srgbClr val="FF0099"/>
              </a:gs>
            </a:gsLst>
            <a:lin ang="2700000" scaled="0"/>
          </a:gra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100" b="1" lang="ko-KR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4142231"/>
            <a:ext cx="2057400" cy="5029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10000"/>
              </a:lnSpc>
            </a:pPr>
            <a:r>
              <a:rPr sz="13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LOOX에 등록된 상품 바로 확인</a:t>
            </a:r>
          </a:p>
          <a:p>
            <a:pPr algn="l">
              <a:lnSpc>
                <a:spcPct val="110000"/>
              </a:lnSpc>
            </a:pPr>
            <a:r>
              <a:rPr sz="1100" b="0" lang="ko-KR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상품 최대 3개</a:t>
            </a:r>
          </a:p>
        </p:txBody>
      </p:sp>
      <p:sp>
        <p:nvSpPr>
          <p:cNvPr id="36" name="Time tag STMX"/>
          <p:cNvSpPr/>
          <p:nvPr/>
        </p:nvSpPr>
        <p:spPr>
          <a:xfrm>
            <a:off x="4023360" y="5038344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F2F2FF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1100" b="1" lang="ko-KR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1회 탐색 약 10분 (가정)</a:t>
            </a:r>
          </a:p>
        </p:txBody>
      </p:sp>
      <p:sp>
        <p:nvSpPr>
          <p:cNvPr id="37" name="Cost panel"/>
          <p:cNvSpPr/>
          <p:nvPr/>
        </p:nvSpPr>
        <p:spPr>
          <a:xfrm>
            <a:off x="6858000" y="1810512"/>
            <a:ext cx="4526279" cy="3657600"/>
          </a:xfrm>
          <a:prstGeom prst="rect">
            <a:avLst/>
          </a:prstGeom>
          <a:solidFill>
            <a:srgbClr val="F8F9FA"/>
          </a:solidFill>
          <a:ln w="9525">
            <a:solidFill>
              <a:srgbClr val="E0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0" y="1938528"/>
            <a:ext cx="2697479" cy="329184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20000"/>
              </a:lnSpc>
            </a:pPr>
            <a:r>
              <a:rPr sz="15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비용 산정 (가정값 기반 예시)</a:t>
            </a:r>
          </a:p>
        </p:txBody>
      </p:sp>
      <p:sp>
        <p:nvSpPr>
          <p:cNvPr id="39" name="Badge assumption"/>
          <p:cNvSpPr/>
          <p:nvPr/>
        </p:nvSpPr>
        <p:spPr>
          <a:xfrm>
            <a:off x="9902951" y="1975104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F2F2FF"/>
          </a:solidFill>
          <a:ln w="9525">
            <a:solidFill>
              <a:srgbClr val="E6E1F9"/>
            </a:solidFill>
          </a:ln>
        </p:spPr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</a:pPr>
            <a:r>
              <a:rPr sz="900" b="1" lang="ko-KR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가정값 · 실측 아님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2340864"/>
            <a:ext cx="4160519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탐색 비용</a:t>
            </a:r>
            <a:r>
              <a:rPr sz="1100" b="0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 = 1회 탐색 시간 × 시간 가치 × 월 구매 탐색 횟수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2615184"/>
            <a:ext cx="4160519" cy="27432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20000"/>
              </a:lnSpc>
            </a:pPr>
            <a:r>
              <a:rPr sz="1000" b="0" lang="ko-KR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가정: 시간 가치 10,320원/시간 · 월 4회 · 기존 60분 / STMX 10분</a:t>
            </a:r>
          </a:p>
        </p:txBody>
      </p:sp>
      <p:sp>
        <p:nvSpPr>
          <p:cNvPr id="42" name="Row 구분"/>
          <p:cNvSpPr/>
          <p:nvPr/>
        </p:nvSpPr>
        <p:spPr>
          <a:xfrm>
            <a:off x="7040880" y="2971800"/>
            <a:ext cx="4160519" cy="329184"/>
          </a:xfrm>
          <a:prstGeom prst="rect">
            <a:avLst/>
          </a:prstGeom>
          <a:solidFill>
            <a:srgbClr val="F0F1F3"/>
          </a:solidFill>
          <a:ln w="6350">
            <a:solidFill>
              <a:srgbClr val="E0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2971800"/>
            <a:ext cx="1371600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lnSpc>
                <a:spcPct val="120000"/>
              </a:lnSpc>
            </a:pPr>
            <a:r>
              <a:rPr sz="1000" b="1" lang="ko-KR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2971800"/>
            <a:ext cx="777240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r">
              <a:lnSpc>
                <a:spcPct val="120000"/>
              </a:lnSpc>
            </a:pPr>
            <a:r>
              <a:rPr sz="1000" b="1" lang="ko-KR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1회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19" y="2971800"/>
            <a:ext cx="868680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r">
              <a:lnSpc>
                <a:spcPct val="120000"/>
              </a:lnSpc>
            </a:pPr>
            <a:r>
              <a:rPr sz="1000" b="1" lang="ko-KR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월 (4회)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399" y="2971800"/>
            <a:ext cx="1142999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r">
              <a:lnSpc>
                <a:spcPct val="120000"/>
              </a:lnSpc>
            </a:pPr>
            <a:r>
              <a:rPr sz="1000" b="1" lang="ko-KR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연 (48회)</a:t>
            </a:r>
          </a:p>
        </p:txBody>
      </p:sp>
      <p:sp>
        <p:nvSpPr>
          <p:cNvPr id="47" name="Row 기존 방식 (60분)"/>
          <p:cNvSpPr/>
          <p:nvPr/>
        </p:nvSpPr>
        <p:spPr>
          <a:xfrm>
            <a:off x="7040880" y="3300984"/>
            <a:ext cx="4160519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3300984"/>
            <a:ext cx="1371600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기존 방식 (60분)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300984"/>
            <a:ext cx="777240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10,320원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19" y="3300984"/>
            <a:ext cx="868680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41,280원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399" y="3300984"/>
            <a:ext cx="1142999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495,360원</a:t>
            </a:r>
          </a:p>
        </p:txBody>
      </p:sp>
      <p:sp>
        <p:nvSpPr>
          <p:cNvPr id="52" name="Row STMX (10분)"/>
          <p:cNvSpPr/>
          <p:nvPr/>
        </p:nvSpPr>
        <p:spPr>
          <a:xfrm>
            <a:off x="7040880" y="3630168"/>
            <a:ext cx="4160519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40880" y="3630168"/>
            <a:ext cx="1371600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STMX (10분)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3630168"/>
            <a:ext cx="777240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1,720원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89719" y="3630168"/>
            <a:ext cx="868680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6,880원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399" y="3630168"/>
            <a:ext cx="1142999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r">
              <a:lnSpc>
                <a:spcPct val="120000"/>
              </a:lnSpc>
            </a:pPr>
            <a:r>
              <a:rPr sz="1100" b="0" lang="ko-KR">
                <a:solidFill>
                  <a:srgbClr val="101317"/>
                </a:solidFill>
                <a:latin typeface="Pretendard"/>
                <a:ea typeface="Pretendard"/>
                <a:cs typeface="Pretendard"/>
              </a:rPr>
              <a:t>82,560원</a:t>
            </a:r>
          </a:p>
        </p:txBody>
      </p:sp>
      <p:sp>
        <p:nvSpPr>
          <p:cNvPr id="57" name="Row 절감"/>
          <p:cNvSpPr/>
          <p:nvPr/>
        </p:nvSpPr>
        <p:spPr>
          <a:xfrm>
            <a:off x="7040880" y="3959352"/>
            <a:ext cx="4160519" cy="329184"/>
          </a:xfrm>
          <a:prstGeom prst="rect">
            <a:avLst/>
          </a:prstGeom>
          <a:solidFill>
            <a:srgbClr val="F2F2FF"/>
          </a:solidFill>
          <a:ln w="6350">
            <a:solidFill>
              <a:srgbClr val="E0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40880" y="3959352"/>
            <a:ext cx="1371600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절감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3959352"/>
            <a:ext cx="777240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r">
              <a:lnSpc>
                <a:spcPct val="120000"/>
              </a:lnSpc>
            </a:pPr>
            <a:r>
              <a:rPr sz="1100" b="1" lang="ko-KR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8,600원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9719" y="3959352"/>
            <a:ext cx="868680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r">
              <a:lnSpc>
                <a:spcPct val="120000"/>
              </a:lnSpc>
            </a:pPr>
            <a:r>
              <a:rPr sz="1100" b="1" lang="ko-KR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34,400원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399" y="3959352"/>
            <a:ext cx="1142999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r">
              <a:lnSpc>
                <a:spcPct val="120000"/>
              </a:lnSpc>
            </a:pPr>
            <a:r>
              <a:rPr sz="1100" b="1" lang="ko-KR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412,800원</a:t>
            </a:r>
          </a:p>
        </p:txBody>
      </p:sp>
      <p:sp>
        <p:nvSpPr>
          <p:cNvPr id="62" name="Row 시간 절감"/>
          <p:cNvSpPr/>
          <p:nvPr/>
        </p:nvSpPr>
        <p:spPr>
          <a:xfrm>
            <a:off x="7040880" y="4288536"/>
            <a:ext cx="4160519" cy="329184"/>
          </a:xfrm>
          <a:prstGeom prst="rect">
            <a:avLst/>
          </a:prstGeom>
          <a:solidFill>
            <a:srgbClr val="F2F2FF"/>
          </a:solidFill>
          <a:ln w="6350">
            <a:solidFill>
              <a:srgbClr val="E0E3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40880" y="4288536"/>
            <a:ext cx="1371600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l">
              <a:lnSpc>
                <a:spcPct val="120000"/>
              </a:lnSpc>
            </a:pPr>
            <a:r>
              <a:rPr sz="1100" b="1" lang="ko-KR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시간 절감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4288536"/>
            <a:ext cx="777240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r">
              <a:lnSpc>
                <a:spcPct val="120000"/>
              </a:lnSpc>
            </a:pPr>
            <a:r>
              <a:rPr sz="1100" b="1" lang="ko-KR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50분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9719" y="4288536"/>
            <a:ext cx="868680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r">
              <a:lnSpc>
                <a:spcPct val="120000"/>
              </a:lnSpc>
            </a:pPr>
            <a:r>
              <a:rPr sz="1100" b="1" lang="ko-KR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200분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399" y="4288536"/>
            <a:ext cx="1142999" cy="329184"/>
          </a:xfrm>
          <a:prstGeom prst="rect">
            <a:avLst/>
          </a:prstGeom>
          <a:noFill/>
        </p:spPr>
        <p:txBody>
          <a:bodyPr wrap="square" anchor="ctr" lIns="73152" rIns="73152" tIns="73152" bIns="73152"/>
          <a:lstStyle/>
          <a:p>
            <a:pPr algn="r">
              <a:lnSpc>
                <a:spcPct val="120000"/>
              </a:lnSpc>
            </a:pPr>
            <a:r>
              <a:rPr sz="1100" b="1" lang="ko-KR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40시간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40880" y="4672584"/>
            <a:ext cx="4160519" cy="22860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5E6774"/>
                </a:solidFill>
                <a:latin typeface="Pretendard"/>
                <a:ea typeface="Pretendard"/>
                <a:cs typeface="Pretendard"/>
              </a:rPr>
              <a:t>월 200분 = 3시간 20분 · 연 40시간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0880" y="4910328"/>
            <a:ext cx="4160519" cy="41148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15000"/>
              </a:lnSpc>
            </a:pPr>
            <a:r>
              <a:rPr sz="850" b="0" lang="ko-KR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* 탐색 시간·횟수는 설명을 위한 가정값이며, 실제 사용자 데이터로 교체 예정.</a:t>
            </a:r>
          </a:p>
          <a:p>
            <a:pPr algn="l">
              <a:lnSpc>
                <a:spcPct val="115000"/>
              </a:lnSpc>
            </a:pPr>
            <a:r>
              <a:rPr sz="850" b="0" lang="ko-KR">
                <a:solidFill>
                  <a:srgbClr val="8E96A2"/>
                </a:solidFill>
                <a:latin typeface="Pretendard"/>
                <a:ea typeface="Pretendard"/>
                <a:cs typeface="Pretendard"/>
              </a:rPr>
              <a:t>시간 가치 = 2026년 최저시급 10,320원 (고용노동부 고시 제2025-47호).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" y="5596128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36576" bIns="36576"/>
          <a:lstStyle/>
          <a:p>
            <a:pPr algn="l">
              <a:lnSpc>
                <a:spcPct val="120000"/>
              </a:lnSpc>
            </a:pPr>
            <a:r>
              <a:rPr sz="1600" b="1" lang="ko-KR">
                <a:solidFill>
                  <a:srgbClr val="9747FF"/>
                </a:solidFill>
                <a:latin typeface="Pretendard"/>
                <a:ea typeface="Pretendard"/>
                <a:cs typeface="Pretendard"/>
              </a:rPr>
              <a:t>검색이 아니라 연결입니다. Style ID가 탐색 비용을 줄입니다.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